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74" r:id="rId3"/>
    <p:sldId id="260" r:id="rId4"/>
    <p:sldId id="261" r:id="rId5"/>
    <p:sldId id="270" r:id="rId6"/>
    <p:sldId id="271" r:id="rId7"/>
    <p:sldId id="272" r:id="rId8"/>
    <p:sldId id="273" r:id="rId9"/>
    <p:sldId id="275" r:id="rId10"/>
    <p:sldId id="276" r:id="rId11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23"/>
    <p:restoredTop sz="76643"/>
  </p:normalViewPr>
  <p:slideViewPr>
    <p:cSldViewPr snapToGrid="0">
      <p:cViewPr varScale="1">
        <p:scale>
          <a:sx n="91" d="100"/>
          <a:sy n="91" d="100"/>
        </p:scale>
        <p:origin x="14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69E583-FBFC-B44A-A424-8C468030A2DC}" type="datetimeFigureOut">
              <a:rPr lang="en-DE" smtClean="0"/>
              <a:t>16.03.26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9952F8-2BB1-6D49-A596-FFE5DC7B6A4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06306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43891-1A5E-E2EF-B93A-5A46E7A244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D0676B-14FE-1853-A19E-413C09E271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334DA-5466-A20C-E602-9E40CA62B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75D7C-C384-DF4C-A7E6-29C59A4113FB}" type="datetimeFigureOut">
              <a:rPr lang="en-DE" smtClean="0"/>
              <a:t>16.03.26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107FB-9038-8055-210F-F557DC491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C85DB-A96A-27CE-3752-43390F498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D9995-92A0-8D42-870D-D10112CAA47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04895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1B341-D65B-4309-9D98-ED2839C78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2945E-8845-CC11-2A1E-C537BF319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AC0A2-72FD-F25F-ACD2-8ECDF579F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75D7C-C384-DF4C-A7E6-29C59A4113FB}" type="datetimeFigureOut">
              <a:rPr lang="en-DE" smtClean="0"/>
              <a:t>16.03.26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E5F56-E6AD-3096-431D-65F2E05BB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013626-E39D-3161-93CE-3F12D0B98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D9995-92A0-8D42-870D-D10112CAA47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18606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B17DA-1FFA-A4D3-F54E-5FC195EE2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7F30C0-2F26-4701-D266-537959EBF3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43B17-D659-98D1-A04B-D93D681BD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75D7C-C384-DF4C-A7E6-29C59A4113FB}" type="datetimeFigureOut">
              <a:rPr lang="en-DE" smtClean="0"/>
              <a:t>16.03.26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93865-1A7D-754F-F756-B9A10C686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20138-1E5C-B8E4-3151-314F73B00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D9995-92A0-8D42-870D-D10112CAA47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94571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0DBDD-B6BA-BC09-1BA6-BB1A50F79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6DB33-FEE9-6C96-E72F-0141EA0531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DB4FB7-EF70-4E51-30CF-C4EE57DBB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414D17-5AAA-4229-E597-2C7C68608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75D7C-C384-DF4C-A7E6-29C59A4113FB}" type="datetimeFigureOut">
              <a:rPr lang="en-DE" smtClean="0"/>
              <a:t>16.03.26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491BF5-EE6B-4155-EE6F-3191189A0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B0E158-EC41-6188-34D7-740D1501A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D9995-92A0-8D42-870D-D10112CAA47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41565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36051-18F1-B9BE-21B8-43254EFCC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0027A-F8D7-F200-7B93-A01AD980B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BF5E7C-581C-A4FB-8D0F-C6BB8B370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812E05-7503-91DA-063B-DC98359432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32AC32-39A6-5EFD-77FC-EA2820CEC7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D91B50-7542-5066-BEAB-5DEEB230A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75D7C-C384-DF4C-A7E6-29C59A4113FB}" type="datetimeFigureOut">
              <a:rPr lang="en-DE" smtClean="0"/>
              <a:t>16.03.26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749642-4644-141F-E56D-ED8753C0B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9032D6-FFFD-0D34-79E1-A8C73CF12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D9995-92A0-8D42-870D-D10112CAA47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87589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7D293-9E80-3F72-5FD0-ABF7C5872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9B7C68-ACCB-A035-E792-4E7582DE7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75D7C-C384-DF4C-A7E6-29C59A4113FB}" type="datetimeFigureOut">
              <a:rPr lang="en-DE" smtClean="0"/>
              <a:t>16.03.26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EAAE61-3DA0-212E-7044-33EA16FD8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ADC57C-D47D-6D26-D5DF-DE0E300B2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D9995-92A0-8D42-870D-D10112CAA47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68199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DEEB5A-1C0D-2B31-4719-0F97AA363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75D7C-C384-DF4C-A7E6-29C59A4113FB}" type="datetimeFigureOut">
              <a:rPr lang="en-DE" smtClean="0"/>
              <a:t>16.03.26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86B6EF-99CB-BE37-E519-750612D5F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72AB7E-9949-EEC0-6F64-89EF80A86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D9995-92A0-8D42-870D-D10112CAA47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50896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65266-149D-7BB0-D0B7-F1CF3FB66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FD86E-C034-5A5B-A9C1-7CDFD8A88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92C6EA-AEB8-5BC9-EE73-4CE788F438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6910B9-72B8-8335-FF5B-E085798F8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75D7C-C384-DF4C-A7E6-29C59A4113FB}" type="datetimeFigureOut">
              <a:rPr lang="en-DE" smtClean="0"/>
              <a:t>16.03.26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071ACD-6BFA-9EB1-3D69-F5828964C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04E5B-4641-BDC0-91E4-F67017A08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D9995-92A0-8D42-870D-D10112CAA47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30020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C0E74-B4C7-69DD-D20B-67A72DFC0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BB9D85-8E6E-D990-3EF3-45C1DDFAAD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5212D3-2D1A-D2A4-059B-3D0D2B664E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68981F-D0FB-938A-3D4D-BA14839EB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75D7C-C384-DF4C-A7E6-29C59A4113FB}" type="datetimeFigureOut">
              <a:rPr lang="en-DE" smtClean="0"/>
              <a:t>16.03.26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5558F0-7C18-A642-19DB-35F68A676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C39C0B-9ACC-121F-0F17-18B6BABF2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D9995-92A0-8D42-870D-D10112CAA47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2853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C7A6E-93C4-9775-5026-6F9B0A1AD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0A5953-A044-2A0A-386F-145B9B69B4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3314E-A15D-2138-D30D-216C472DB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75D7C-C384-DF4C-A7E6-29C59A4113FB}" type="datetimeFigureOut">
              <a:rPr lang="en-DE" smtClean="0"/>
              <a:t>16.03.26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2C53F-4591-7026-56E0-542B8F7EB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E8F6B-500B-3A33-A8B8-BB2A1143C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D9995-92A0-8D42-870D-D10112CAA47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29203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C08DB8-626E-418F-ABA3-336F3121BB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6CC521-56BA-029C-5D3F-E6967C9746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85057-A5D9-EF62-E0D8-B63EC8160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75D7C-C384-DF4C-A7E6-29C59A4113FB}" type="datetimeFigureOut">
              <a:rPr lang="en-DE" smtClean="0"/>
              <a:t>16.03.26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1BE27-F0D9-F92F-574E-AC805DDDD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18224-D713-80A5-7F83-4539F042A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D9995-92A0-8D42-870D-D10112CAA47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44580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FCEBDE-F3D3-869A-C422-28AFD2A7D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6074E-069B-D17B-7172-209D08340C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DE885-9882-24D4-F4F0-F1B113822D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C75D7C-C384-DF4C-A7E6-29C59A4113FB}" type="datetimeFigureOut">
              <a:rPr lang="en-DE" smtClean="0"/>
              <a:t>16.03.26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30978-1AF0-9507-E33C-13041AF3D2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919FF-B72D-11A9-4168-D81A597368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7D9995-92A0-8D42-870D-D10112CAA47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37865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2A173-ED4D-2071-1D5F-A5D34F5818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947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DE" dirty="0">
                <a:solidFill>
                  <a:schemeClr val="bg1"/>
                </a:solidFill>
              </a:rPr>
              <a:t>AI Tools (LLMS) for Computational Biology</a:t>
            </a:r>
            <a:br>
              <a:rPr lang="en-DE" dirty="0">
                <a:solidFill>
                  <a:schemeClr val="bg1"/>
                </a:solidFill>
              </a:rPr>
            </a:br>
            <a:br>
              <a:rPr lang="en-DE" dirty="0">
                <a:solidFill>
                  <a:schemeClr val="bg1"/>
                </a:solidFill>
              </a:rPr>
            </a:br>
            <a:r>
              <a:rPr lang="en-DE" sz="3100" dirty="0">
                <a:solidFill>
                  <a:schemeClr val="bg1"/>
                </a:solidFill>
              </a:rPr>
              <a:t>Luke Brandwood</a:t>
            </a:r>
            <a:br>
              <a:rPr lang="en-DE" sz="3100" dirty="0">
                <a:solidFill>
                  <a:schemeClr val="bg1"/>
                </a:solidFill>
              </a:rPr>
            </a:br>
            <a:r>
              <a:rPr lang="en-DE" sz="3100" dirty="0">
                <a:solidFill>
                  <a:schemeClr val="bg1"/>
                </a:solidFill>
              </a:rPr>
              <a:t>Beyer Group</a:t>
            </a:r>
            <a:endParaRPr lang="en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2450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0291" y="60000"/>
            <a:ext cx="11231418" cy="7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AI Tools &amp; Agents</a:t>
            </a:r>
          </a:p>
        </p:txBody>
      </p:sp>
      <p:cxnSp>
        <p:nvCxnSpPr>
          <p:cNvPr id="99" name="Line"/>
          <p:cNvCxnSpPr/>
          <p:nvPr/>
        </p:nvCxnSpPr>
        <p:spPr>
          <a:xfrm>
            <a:off x="480291" y="880000"/>
            <a:ext cx="11231418" cy="0"/>
          </a:xfrm>
          <a:prstGeom prst="line">
            <a:avLst/>
          </a:prstGeom>
          <a:ln w="22860">
            <a:solidFill>
              <a:srgbClr val="00B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480291" y="1000000"/>
            <a:ext cx="11231418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The main platforms, their parent companies, and where each shines.</a:t>
            </a:r>
          </a:p>
        </p:txBody>
      </p:sp>
      <p:sp>
        <p:nvSpPr>
          <p:cNvPr id="10" name="Card0"/>
          <p:cNvSpPr>
            <a:spLocks noGrp="1"/>
          </p:cNvSpPr>
          <p:nvPr/>
        </p:nvSpPr>
        <p:spPr>
          <a:xfrm>
            <a:off x="480291" y="1370000"/>
            <a:ext cx="3670472" cy="162000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 w="15875">
            <a:solidFill>
              <a:srgbClr val="1E3A50"/>
            </a:solidFill>
          </a:ln>
        </p:spPr>
        <p:txBody>
          <a:bodyPr wrap="square" lIns="228600" tIns="182880" rIns="228600" bIns="182880">
            <a:normAutofit/>
          </a:bodyPr>
          <a:lstStyle/>
          <a:p>
            <a:r>
              <a:rPr lang="en-GB" sz="1300" dirty="0">
                <a:solidFill>
                  <a:srgbClr val="B0C4D0"/>
                </a:solidFill>
              </a:rPr>
              <a:t>OpenAI</a:t>
            </a:r>
          </a:p>
          <a:p>
            <a:r>
              <a:rPr lang="en-GB" sz="2400" b="1" dirty="0">
                <a:solidFill>
                  <a:srgbClr val="4CAF50"/>
                </a:solidFill>
              </a:rPr>
              <a:t>ChatGPT</a:t>
            </a:r>
          </a:p>
          <a:p>
            <a:endParaRPr lang="en-GB" sz="900" dirty="0">
              <a:solidFill>
                <a:srgbClr val="B0C4D0"/>
              </a:solidFill>
            </a:endParaRPr>
          </a:p>
          <a:p>
            <a:r>
              <a:rPr lang="en-GB" sz="1500" dirty="0">
                <a:solidFill>
                  <a:srgbClr val="C8DCE8"/>
                </a:solidFill>
              </a:rPr>
              <a:t>All-purpose workhorse. Largest plugin ecosystem; most widely adopted.</a:t>
            </a:r>
          </a:p>
        </p:txBody>
      </p:sp>
      <p:sp>
        <p:nvSpPr>
          <p:cNvPr id="11" name="Card1"/>
          <p:cNvSpPr>
            <a:spLocks noGrp="1"/>
          </p:cNvSpPr>
          <p:nvPr/>
        </p:nvSpPr>
        <p:spPr>
          <a:xfrm>
            <a:off x="4260763" y="1370000"/>
            <a:ext cx="3670472" cy="162000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 w="15875">
            <a:solidFill>
              <a:srgbClr val="1E3A50"/>
            </a:solidFill>
          </a:ln>
        </p:spPr>
        <p:txBody>
          <a:bodyPr wrap="square" lIns="228600" tIns="182880" rIns="228600" bIns="182880">
            <a:normAutofit/>
          </a:bodyPr>
          <a:lstStyle/>
          <a:p>
            <a:r>
              <a:rPr lang="en-GB" sz="1300" dirty="0">
                <a:solidFill>
                  <a:srgbClr val="B0C4D0"/>
                </a:solidFill>
              </a:rPr>
              <a:t>Anthropic</a:t>
            </a:r>
          </a:p>
          <a:p>
            <a:r>
              <a:rPr lang="en-GB" sz="2400" b="1" dirty="0">
                <a:solidFill>
                  <a:srgbClr val="00B4CC"/>
                </a:solidFill>
              </a:rPr>
              <a:t>Claude</a:t>
            </a:r>
          </a:p>
          <a:p>
            <a:endParaRPr lang="en-GB" sz="900" dirty="0">
              <a:solidFill>
                <a:srgbClr val="B0C4D0"/>
              </a:solidFill>
            </a:endParaRPr>
          </a:p>
          <a:p>
            <a:r>
              <a:rPr lang="en-GB" sz="1500" dirty="0">
                <a:solidFill>
                  <a:srgbClr val="C8DCE8"/>
                </a:solidFill>
              </a:rPr>
              <a:t>200k token context; precise code and long documents; strong at analysis.</a:t>
            </a:r>
          </a:p>
        </p:txBody>
      </p:sp>
      <p:sp>
        <p:nvSpPr>
          <p:cNvPr id="12" name="Card2"/>
          <p:cNvSpPr>
            <a:spLocks noGrp="1"/>
          </p:cNvSpPr>
          <p:nvPr/>
        </p:nvSpPr>
        <p:spPr>
          <a:xfrm>
            <a:off x="8041235" y="1370000"/>
            <a:ext cx="3670472" cy="162000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 w="15875">
            <a:solidFill>
              <a:srgbClr val="1E3A50"/>
            </a:solidFill>
          </a:ln>
        </p:spPr>
        <p:txBody>
          <a:bodyPr wrap="square" lIns="228600" tIns="182880" rIns="228600" bIns="182880">
            <a:normAutofit/>
          </a:bodyPr>
          <a:lstStyle/>
          <a:p>
            <a:r>
              <a:rPr lang="en-GB" sz="1300" dirty="0">
                <a:solidFill>
                  <a:srgbClr val="B0C4D0"/>
                </a:solidFill>
              </a:rPr>
              <a:t>Google</a:t>
            </a:r>
          </a:p>
          <a:p>
            <a:r>
              <a:rPr lang="en-GB" sz="2400" b="1" dirty="0">
                <a:solidFill>
                  <a:srgbClr val="4285F4"/>
                </a:solidFill>
              </a:rPr>
              <a:t>Gemini</a:t>
            </a:r>
          </a:p>
          <a:p>
            <a:endParaRPr lang="en-GB" sz="900" dirty="0">
              <a:solidFill>
                <a:srgbClr val="B0C4D0"/>
              </a:solidFill>
            </a:endParaRPr>
          </a:p>
          <a:p>
            <a:r>
              <a:rPr lang="en-GB" sz="1500" dirty="0">
                <a:solidFill>
                  <a:srgbClr val="C8DCE8"/>
                </a:solidFill>
              </a:rPr>
              <a:t>Multimodal; integrates directly with Google Drive, Docs and Slides.</a:t>
            </a:r>
          </a:p>
        </p:txBody>
      </p:sp>
      <p:sp>
        <p:nvSpPr>
          <p:cNvPr id="13" name="Card3"/>
          <p:cNvSpPr>
            <a:spLocks noGrp="1"/>
          </p:cNvSpPr>
          <p:nvPr/>
        </p:nvSpPr>
        <p:spPr>
          <a:xfrm>
            <a:off x="480291" y="3120000"/>
            <a:ext cx="3670472" cy="162000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 w="15875">
            <a:solidFill>
              <a:srgbClr val="1E3A50"/>
            </a:solidFill>
          </a:ln>
        </p:spPr>
        <p:txBody>
          <a:bodyPr wrap="square" lIns="228600" tIns="182880" rIns="228600" bIns="182880">
            <a:normAutofit/>
          </a:bodyPr>
          <a:lstStyle/>
          <a:p>
            <a:r>
              <a:rPr lang="en-GB" sz="1300" dirty="0">
                <a:solidFill>
                  <a:srgbClr val="B0C4D0"/>
                </a:solidFill>
              </a:rPr>
              <a:t>Microsoft</a:t>
            </a:r>
          </a:p>
          <a:p>
            <a:r>
              <a:rPr lang="en-GB" sz="2400" b="1" dirty="0">
                <a:solidFill>
                  <a:srgbClr val="0078D4"/>
                </a:solidFill>
              </a:rPr>
              <a:t>Copilot</a:t>
            </a:r>
          </a:p>
          <a:p>
            <a:endParaRPr lang="en-GB" sz="900" dirty="0">
              <a:solidFill>
                <a:srgbClr val="B0C4D0"/>
              </a:solidFill>
            </a:endParaRPr>
          </a:p>
          <a:p>
            <a:r>
              <a:rPr lang="en-GB" sz="1500" dirty="0">
                <a:solidFill>
                  <a:srgbClr val="C8DCE8"/>
                </a:solidFill>
              </a:rPr>
              <a:t>Built into Office 365 and GitHub. Best for Word/Excel workflows.</a:t>
            </a:r>
          </a:p>
        </p:txBody>
      </p:sp>
      <p:sp>
        <p:nvSpPr>
          <p:cNvPr id="14" name="Card4"/>
          <p:cNvSpPr>
            <a:spLocks noGrp="1"/>
          </p:cNvSpPr>
          <p:nvPr/>
        </p:nvSpPr>
        <p:spPr>
          <a:xfrm>
            <a:off x="4260763" y="3120000"/>
            <a:ext cx="3670472" cy="162000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 w="15875">
            <a:solidFill>
              <a:srgbClr val="1E3A50"/>
            </a:solidFill>
          </a:ln>
        </p:spPr>
        <p:txBody>
          <a:bodyPr wrap="square" lIns="228600" tIns="182880" rIns="228600" bIns="182880">
            <a:normAutofit/>
          </a:bodyPr>
          <a:lstStyle/>
          <a:p>
            <a:r>
              <a:rPr lang="en-GB" sz="1300" dirty="0">
                <a:solidFill>
                  <a:srgbClr val="B0C4D0"/>
                </a:solidFill>
              </a:rPr>
              <a:t>Anysphere</a:t>
            </a:r>
          </a:p>
          <a:p>
            <a:r>
              <a:rPr lang="en-GB" sz="2400" b="1" dirty="0">
                <a:solidFill>
                  <a:srgbClr val="9B59B6"/>
                </a:solidFill>
              </a:rPr>
              <a:t>Cursor</a:t>
            </a:r>
          </a:p>
          <a:p>
            <a:endParaRPr lang="en-GB" sz="900" dirty="0">
              <a:solidFill>
                <a:srgbClr val="B0C4D0"/>
              </a:solidFill>
            </a:endParaRPr>
          </a:p>
          <a:p>
            <a:r>
              <a:rPr lang="en-GB" sz="1500" dirty="0">
                <a:solidFill>
                  <a:srgbClr val="C8DCE8"/>
                </a:solidFill>
              </a:rPr>
              <a:t>IDE-native coding agent — references your entire codebase in context.</a:t>
            </a:r>
          </a:p>
        </p:txBody>
      </p:sp>
      <p:sp>
        <p:nvSpPr>
          <p:cNvPr id="15" name="Card5"/>
          <p:cNvSpPr>
            <a:spLocks noGrp="1"/>
          </p:cNvSpPr>
          <p:nvPr/>
        </p:nvSpPr>
        <p:spPr>
          <a:xfrm>
            <a:off x="8041235" y="3120000"/>
            <a:ext cx="3670472" cy="162000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 w="15875">
            <a:solidFill>
              <a:srgbClr val="1E3A50"/>
            </a:solidFill>
          </a:ln>
        </p:spPr>
        <p:txBody>
          <a:bodyPr wrap="square" lIns="228600" tIns="182880" rIns="228600" bIns="182880">
            <a:normAutofit/>
          </a:bodyPr>
          <a:lstStyle/>
          <a:p>
            <a:r>
              <a:rPr lang="en-GB" sz="1300" dirty="0">
                <a:solidFill>
                  <a:srgbClr val="B0C4D0"/>
                </a:solidFill>
              </a:rPr>
              <a:t>Perplexity AI</a:t>
            </a:r>
          </a:p>
          <a:p>
            <a:r>
              <a:rPr lang="en-GB" sz="2400" b="1" dirty="0">
                <a:solidFill>
                  <a:srgbClr val="FF6B35"/>
                </a:solidFill>
              </a:rPr>
              <a:t>Perplexity</a:t>
            </a:r>
          </a:p>
          <a:p>
            <a:endParaRPr lang="en-GB" sz="900" dirty="0">
              <a:solidFill>
                <a:srgbClr val="B0C4D0"/>
              </a:solidFill>
            </a:endParaRPr>
          </a:p>
          <a:p>
            <a:r>
              <a:rPr lang="en-GB" sz="1500" dirty="0">
                <a:solidFill>
                  <a:srgbClr val="C8DCE8"/>
                </a:solidFill>
              </a:rPr>
              <a:t>Real-time web search with inline citations. Strong for literature.</a:t>
            </a:r>
          </a:p>
        </p:txBody>
      </p:sp>
      <p:sp>
        <p:nvSpPr>
          <p:cNvPr id="20" name="Footer"/>
          <p:cNvSpPr>
            <a:spLocks noGrp="1"/>
          </p:cNvSpPr>
          <p:nvPr/>
        </p:nvSpPr>
        <p:spPr>
          <a:xfrm>
            <a:off x="480291" y="4870000"/>
            <a:ext cx="11231418" cy="50000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 w="15875">
            <a:solidFill>
              <a:srgbClr val="1E3A50"/>
            </a:solidFill>
          </a:ln>
        </p:spPr>
        <p:txBody>
          <a:bodyPr wrap="square" lIns="228600" tIns="114300" rIns="228600" bIns="114300">
            <a:normAutofit/>
          </a:bodyPr>
          <a:lstStyle/>
          <a:p>
            <a:r>
              <a:rPr lang="en-GB" sz="1500" dirty="0">
                <a:solidFill>
                  <a:srgbClr val="B0C4D0"/>
                </a:solidFill>
              </a:rPr>
              <a:t>Also notable:  DeepSeek (DeepSeek AI) — open-source, highly capable, can be self-hosted  |  Grok (xAI) — integrated with X/Twitter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0291" y="60000"/>
            <a:ext cx="11231418" cy="7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00B4CC"/>
                </a:solidFill>
              </a:rPr>
              <a:t>1.  </a:t>
            </a:r>
            <a:r>
              <a:rPr sz="3800">
                <a:solidFill>
                  <a:srgbClr val="FFFFFF"/>
                </a:solidFill>
              </a:rPr>
              <a:t>Be Specific &amp; Clear</a:t>
            </a:r>
          </a:p>
        </p:txBody>
      </p:sp>
      <p:cxnSp>
        <p:nvCxnSpPr>
          <p:cNvPr id="99" name="Line"/>
          <p:cNvCxnSpPr/>
          <p:nvPr/>
        </p:nvCxnSpPr>
        <p:spPr>
          <a:xfrm>
            <a:off x="480291" y="880000"/>
            <a:ext cx="11231418" cy="0"/>
          </a:xfrm>
          <a:prstGeom prst="line">
            <a:avLst/>
          </a:prstGeom>
          <a:ln w="22860">
            <a:solidFill>
              <a:srgbClr val="00B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480291" y="1000000"/>
            <a:ext cx="11231418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FFFFFF"/>
                </a:solidFill>
              </a:rPr>
              <a:t>The single most impactful change — add context, goal, and constraints to every prompt.</a:t>
            </a:r>
          </a:p>
        </p:txBody>
      </p:sp>
      <p:sp>
        <p:nvSpPr>
          <p:cNvPr id="20" name="Box20"/>
          <p:cNvSpPr>
            <a:spLocks noGrp="1"/>
          </p:cNvSpPr>
          <p:nvPr/>
        </p:nvSpPr>
        <p:spPr>
          <a:xfrm>
            <a:off x="480291" y="1420000"/>
            <a:ext cx="5515709" cy="1700000"/>
          </a:xfrm>
          <a:prstGeom prst="roundRect">
            <a:avLst>
              <a:gd name="adj" fmla="val 6000"/>
            </a:avLst>
          </a:prstGeom>
          <a:solidFill>
            <a:srgbClr val="2A0E0E"/>
          </a:solidFill>
          <a:ln w="15875">
            <a:solidFill>
              <a:srgbClr val="5A1A1A"/>
            </a:solidFill>
          </a:ln>
        </p:spPr>
        <p:txBody>
          <a:bodyPr wrap="square" lIns="182880" tIns="114300" rIns="182880" bIns="114300">
            <a:normAutofit/>
          </a:bodyPr>
          <a:lstStyle/>
          <a:p>
            <a:r>
              <a:rPr lang="en-GB" sz="1700" b="1" dirty="0">
                <a:solidFill>
                  <a:srgbClr val="FF7B7B"/>
                </a:solidFill>
              </a:rPr>
              <a:t>BAD</a:t>
            </a:r>
          </a:p>
          <a:p>
            <a:endParaRPr lang="en-GB" sz="700" dirty="0">
              <a:solidFill>
                <a:srgbClr val="FF7B7B"/>
              </a:solidFill>
            </a:endParaRPr>
          </a:p>
          <a:p>
            <a:r>
              <a:rPr lang="en-GB" sz="1700" i="1" dirty="0">
                <a:solidFill>
                  <a:srgbClr val="FFAAAA"/>
                </a:solidFill>
              </a:rPr>
              <a:t>"Analyse my data."</a:t>
            </a:r>
          </a:p>
          <a:p>
            <a:endParaRPr lang="en-GB" sz="700" dirty="0">
              <a:solidFill>
                <a:srgbClr val="FF7B7B"/>
              </a:solidFill>
            </a:endParaRPr>
          </a:p>
          <a:p>
            <a:r>
              <a:rPr lang="en-GB" sz="1500" dirty="0">
                <a:solidFill>
                  <a:srgbClr val="DDAAAA"/>
                </a:solidFill>
              </a:rPr>
              <a:t>Vague — no context, no goal,</a:t>
            </a:r>
          </a:p>
          <a:p>
            <a:r>
              <a:rPr lang="en-GB" sz="1500" dirty="0">
                <a:solidFill>
                  <a:srgbClr val="DDAAAA"/>
                </a:solidFill>
              </a:rPr>
              <a:t>no format. Model must guess.</a:t>
            </a:r>
          </a:p>
        </p:txBody>
      </p:sp>
      <p:sp>
        <p:nvSpPr>
          <p:cNvPr id="21" name="Box21"/>
          <p:cNvSpPr>
            <a:spLocks noGrp="1"/>
          </p:cNvSpPr>
          <p:nvPr/>
        </p:nvSpPr>
        <p:spPr>
          <a:xfrm>
            <a:off x="6196000" y="1420000"/>
            <a:ext cx="5515709" cy="1700000"/>
          </a:xfrm>
          <a:prstGeom prst="roundRect">
            <a:avLst>
              <a:gd name="adj" fmla="val 6000"/>
            </a:avLst>
          </a:prstGeom>
          <a:solidFill>
            <a:srgbClr val="0E2A0E"/>
          </a:solidFill>
          <a:ln w="15875">
            <a:solidFill>
              <a:srgbClr val="1A5A1A"/>
            </a:solidFill>
          </a:ln>
        </p:spPr>
        <p:txBody>
          <a:bodyPr wrap="square" lIns="182880" tIns="114300" rIns="182880" bIns="114300">
            <a:normAutofit/>
          </a:bodyPr>
          <a:lstStyle/>
          <a:p>
            <a:r>
              <a:rPr lang="en-GB" sz="1700" b="1" dirty="0">
                <a:solidFill>
                  <a:srgbClr val="7BE08C"/>
                </a:solidFill>
              </a:rPr>
              <a:t>✓  BETTER</a:t>
            </a:r>
          </a:p>
          <a:p>
            <a:endParaRPr lang="en-GB" sz="700" dirty="0">
              <a:solidFill>
                <a:srgbClr val="7BE08C"/>
              </a:solidFill>
            </a:endParaRPr>
          </a:p>
          <a:p>
            <a:r>
              <a:rPr lang="en-GB" sz="1700" i="1" dirty="0">
                <a:solidFill>
                  <a:srgbClr val="AAFFCC"/>
                </a:solidFill>
              </a:rPr>
              <a:t>"I have a CSV: sample_id, gene,</a:t>
            </a:r>
          </a:p>
          <a:p>
            <a:r>
              <a:rPr lang="en-GB" sz="1700" i="1" dirty="0">
                <a:solidFill>
                  <a:srgbClr val="AAFFCC"/>
                </a:solidFill>
              </a:rPr>
              <a:t> count. Calculate mean count</a:t>
            </a:r>
          </a:p>
          <a:p>
            <a:r>
              <a:rPr lang="en-GB" sz="1700" i="1" dirty="0">
                <a:solidFill>
                  <a:srgbClr val="AAFFCC"/>
                </a:solidFill>
              </a:rPr>
              <a:t> per gene. Return sorted table."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80291" y="3260000"/>
            <a:ext cx="11231418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00B4CC"/>
                </a:solidFill>
              </a:rPr>
              <a:t>Key elements to include in every prompt:</a:t>
            </a:r>
          </a:p>
        </p:txBody>
      </p:sp>
      <p:sp>
        <p:nvSpPr>
          <p:cNvPr id="30" name="Box30"/>
          <p:cNvSpPr>
            <a:spLocks noGrp="1"/>
          </p:cNvSpPr>
          <p:nvPr/>
        </p:nvSpPr>
        <p:spPr>
          <a:xfrm>
            <a:off x="480291" y="3650000"/>
            <a:ext cx="2747854" cy="62000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 w="15875">
            <a:solidFill>
              <a:srgbClr val="00B4CC"/>
            </a:solidFill>
          </a:ln>
        </p:spPr>
        <p:txBody>
          <a:bodyPr wrap="square" lIns="182880" tIns="114300" rIns="182880" bIns="114300">
            <a:normAutofit/>
          </a:bodyPr>
          <a:lstStyle/>
          <a:p>
            <a:r>
              <a:rPr lang="en-GB" sz="1700" b="1" dirty="0">
                <a:solidFill>
                  <a:srgbClr val="7EC8E3"/>
                </a:solidFill>
              </a:rPr>
              <a:t>Role / context</a:t>
            </a:r>
          </a:p>
        </p:txBody>
      </p:sp>
      <p:sp>
        <p:nvSpPr>
          <p:cNvPr id="31" name="Box31"/>
          <p:cNvSpPr>
            <a:spLocks noGrp="1"/>
          </p:cNvSpPr>
          <p:nvPr/>
        </p:nvSpPr>
        <p:spPr>
          <a:xfrm>
            <a:off x="3308145" y="3650000"/>
            <a:ext cx="2747854" cy="62000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 w="15875">
            <a:solidFill>
              <a:srgbClr val="00B4CC"/>
            </a:solidFill>
          </a:ln>
        </p:spPr>
        <p:txBody>
          <a:bodyPr wrap="square" lIns="182880" tIns="114300" rIns="182880" bIns="114300">
            <a:normAutofit/>
          </a:bodyPr>
          <a:lstStyle/>
          <a:p>
            <a:r>
              <a:rPr lang="en-GB" sz="1700" b="1" dirty="0">
                <a:solidFill>
                  <a:srgbClr val="7EC8E3"/>
                </a:solidFill>
              </a:rPr>
              <a:t>Goal / task</a:t>
            </a:r>
          </a:p>
        </p:txBody>
      </p:sp>
      <p:sp>
        <p:nvSpPr>
          <p:cNvPr id="32" name="Box32"/>
          <p:cNvSpPr>
            <a:spLocks noGrp="1"/>
          </p:cNvSpPr>
          <p:nvPr/>
        </p:nvSpPr>
        <p:spPr>
          <a:xfrm>
            <a:off x="6135999" y="3650000"/>
            <a:ext cx="2747854" cy="62000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 w="15875">
            <a:solidFill>
              <a:srgbClr val="00B4CC"/>
            </a:solidFill>
          </a:ln>
        </p:spPr>
        <p:txBody>
          <a:bodyPr wrap="square" lIns="182880" tIns="114300" rIns="182880" bIns="114300">
            <a:normAutofit/>
          </a:bodyPr>
          <a:lstStyle/>
          <a:p>
            <a:r>
              <a:rPr lang="en-GB" sz="1700" b="1" dirty="0">
                <a:solidFill>
                  <a:srgbClr val="7EC8E3"/>
                </a:solidFill>
              </a:rPr>
              <a:t>Output format</a:t>
            </a:r>
          </a:p>
        </p:txBody>
      </p:sp>
      <p:sp>
        <p:nvSpPr>
          <p:cNvPr id="33" name="Box33"/>
          <p:cNvSpPr>
            <a:spLocks noGrp="1"/>
          </p:cNvSpPr>
          <p:nvPr/>
        </p:nvSpPr>
        <p:spPr>
          <a:xfrm>
            <a:off x="8963853" y="3650000"/>
            <a:ext cx="2747854" cy="62000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 w="15875">
            <a:solidFill>
              <a:srgbClr val="00B4CC"/>
            </a:solidFill>
          </a:ln>
        </p:spPr>
        <p:txBody>
          <a:bodyPr wrap="square" lIns="182880" tIns="114300" rIns="182880" bIns="114300">
            <a:normAutofit/>
          </a:bodyPr>
          <a:lstStyle/>
          <a:p>
            <a:r>
              <a:rPr lang="en-GB" sz="1700" b="1" dirty="0">
                <a:solidFill>
                  <a:srgbClr val="7EC8E3"/>
                </a:solidFill>
              </a:rPr>
              <a:t>Constraints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80291" y="4440000"/>
            <a:ext cx="11231418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B0C4D0"/>
                </a:solidFill>
              </a:rPr>
              <a:t>Tip: include a concrete example of what success looks like — even a one-line mock output.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0291" y="60000"/>
            <a:ext cx="11231418" cy="7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00B4CC"/>
                </a:solidFill>
              </a:rPr>
              <a:t>2.  </a:t>
            </a:r>
            <a:r>
              <a:rPr sz="3800">
                <a:solidFill>
                  <a:srgbClr val="FFFFFF"/>
                </a:solidFill>
              </a:rPr>
              <a:t>Chain of Thought Prompting</a:t>
            </a:r>
          </a:p>
        </p:txBody>
      </p:sp>
      <p:cxnSp>
        <p:nvCxnSpPr>
          <p:cNvPr id="99" name="Line"/>
          <p:cNvCxnSpPr/>
          <p:nvPr/>
        </p:nvCxnSpPr>
        <p:spPr>
          <a:xfrm>
            <a:off x="480291" y="880000"/>
            <a:ext cx="11231418" cy="0"/>
          </a:xfrm>
          <a:prstGeom prst="line">
            <a:avLst/>
          </a:prstGeom>
          <a:ln w="22860">
            <a:solidFill>
              <a:srgbClr val="00B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480291" y="1000000"/>
            <a:ext cx="11231418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FFFFFF"/>
                </a:solidFill>
              </a:rPr>
              <a:t>Guide the model to reason step-by-step. Break complex tasks into ordered, checkable stages.</a:t>
            </a:r>
          </a:p>
        </p:txBody>
      </p:sp>
      <p:sp>
        <p:nvSpPr>
          <p:cNvPr id="20" name="Box20"/>
          <p:cNvSpPr>
            <a:spLocks noGrp="1"/>
          </p:cNvSpPr>
          <p:nvPr/>
        </p:nvSpPr>
        <p:spPr>
          <a:xfrm>
            <a:off x="480291" y="1630000"/>
            <a:ext cx="3200000" cy="1383046"/>
          </a:xfrm>
          <a:prstGeom prst="roundRect">
            <a:avLst>
              <a:gd name="adj" fmla="val 6000"/>
            </a:avLst>
          </a:prstGeom>
          <a:solidFill>
            <a:srgbClr val="0A2233"/>
          </a:solidFill>
          <a:ln w="15875">
            <a:solidFill>
              <a:srgbClr val="00B4CC"/>
            </a:solidFill>
          </a:ln>
        </p:spPr>
        <p:txBody>
          <a:bodyPr wrap="square" lIns="182880" tIns="114300" rIns="182880" bIns="114300">
            <a:normAutofit/>
          </a:bodyPr>
          <a:lstStyle/>
          <a:p>
            <a:r>
              <a:rPr lang="en-GB" sz="2100" b="1" dirty="0">
                <a:solidFill>
                  <a:srgbClr val="00B4CC"/>
                </a:solidFill>
              </a:rPr>
              <a:t>Step 1</a:t>
            </a:r>
          </a:p>
          <a:p>
            <a:endParaRPr lang="en-GB" sz="900" dirty="0">
              <a:solidFill>
                <a:srgbClr val="7EC8E3"/>
              </a:solidFill>
            </a:endParaRPr>
          </a:p>
          <a:p>
            <a:r>
              <a:rPr lang="en-GB" sz="1700" i="1" dirty="0">
                <a:solidFill>
                  <a:srgbClr val="7EC8E3"/>
                </a:solidFill>
              </a:rPr>
              <a:t>"Write code to read
and load the data."</a:t>
            </a:r>
          </a:p>
        </p:txBody>
      </p:sp>
      <p:sp>
        <p:nvSpPr>
          <p:cNvPr id="80" name="Arrow"/>
          <p:cNvSpPr>
            <a:spLocks noGrp="1"/>
          </p:cNvSpPr>
          <p:nvPr/>
        </p:nvSpPr>
        <p:spPr>
          <a:xfrm>
            <a:off x="3740291" y="2090000"/>
            <a:ext cx="695709" cy="13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4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Box21"/>
          <p:cNvSpPr>
            <a:spLocks noGrp="1"/>
          </p:cNvSpPr>
          <p:nvPr/>
        </p:nvSpPr>
        <p:spPr>
          <a:xfrm>
            <a:off x="4496000" y="1629999"/>
            <a:ext cx="3200000" cy="1383045"/>
          </a:xfrm>
          <a:prstGeom prst="roundRect">
            <a:avLst>
              <a:gd name="adj" fmla="val 6000"/>
            </a:avLst>
          </a:prstGeom>
          <a:solidFill>
            <a:srgbClr val="0A2233"/>
          </a:solidFill>
          <a:ln w="15875">
            <a:solidFill>
              <a:srgbClr val="00B4CC"/>
            </a:solidFill>
          </a:ln>
        </p:spPr>
        <p:txBody>
          <a:bodyPr wrap="square" lIns="182880" tIns="114300" rIns="182880" bIns="114300">
            <a:normAutofit/>
          </a:bodyPr>
          <a:lstStyle/>
          <a:p>
            <a:r>
              <a:rPr lang="en-GB" sz="2100" b="1" dirty="0">
                <a:solidFill>
                  <a:srgbClr val="00B4CC"/>
                </a:solidFill>
              </a:rPr>
              <a:t>Step 2</a:t>
            </a:r>
          </a:p>
          <a:p>
            <a:endParaRPr lang="en-GB" sz="900" dirty="0">
              <a:solidFill>
                <a:srgbClr val="7EC8E3"/>
              </a:solidFill>
            </a:endParaRPr>
          </a:p>
          <a:p>
            <a:r>
              <a:rPr lang="en-GB" sz="1700" i="1" dirty="0">
                <a:solidFill>
                  <a:srgbClr val="7EC8E3"/>
                </a:solidFill>
              </a:rPr>
              <a:t>"Now normalise the
read counts."</a:t>
            </a:r>
          </a:p>
        </p:txBody>
      </p:sp>
      <p:sp>
        <p:nvSpPr>
          <p:cNvPr id="3" name="Arrow"/>
          <p:cNvSpPr>
            <a:spLocks noGrp="1"/>
          </p:cNvSpPr>
          <p:nvPr/>
        </p:nvSpPr>
        <p:spPr>
          <a:xfrm>
            <a:off x="7756000" y="2090000"/>
            <a:ext cx="695709" cy="13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4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Box22"/>
          <p:cNvSpPr>
            <a:spLocks noGrp="1"/>
          </p:cNvSpPr>
          <p:nvPr/>
        </p:nvSpPr>
        <p:spPr>
          <a:xfrm>
            <a:off x="8511709" y="1630000"/>
            <a:ext cx="3200000" cy="1383044"/>
          </a:xfrm>
          <a:prstGeom prst="roundRect">
            <a:avLst>
              <a:gd name="adj" fmla="val 6000"/>
            </a:avLst>
          </a:prstGeom>
          <a:solidFill>
            <a:srgbClr val="0A2233"/>
          </a:solidFill>
          <a:ln w="15875">
            <a:solidFill>
              <a:srgbClr val="00B4CC"/>
            </a:solidFill>
          </a:ln>
        </p:spPr>
        <p:txBody>
          <a:bodyPr wrap="square" lIns="182880" tIns="114300" rIns="182880" bIns="114300">
            <a:normAutofit/>
          </a:bodyPr>
          <a:lstStyle/>
          <a:p>
            <a:r>
              <a:rPr lang="en-GB" sz="2100" b="1" dirty="0">
                <a:solidFill>
                  <a:srgbClr val="00B4CC"/>
                </a:solidFill>
              </a:rPr>
              <a:t>Step 3</a:t>
            </a:r>
          </a:p>
          <a:p>
            <a:endParaRPr lang="en-GB" sz="900" dirty="0">
              <a:solidFill>
                <a:srgbClr val="7EC8E3"/>
              </a:solidFill>
            </a:endParaRPr>
          </a:p>
          <a:p>
            <a:r>
              <a:rPr lang="en-GB" sz="1700" i="1" dirty="0">
                <a:solidFill>
                  <a:srgbClr val="7EC8E3"/>
                </a:solidFill>
              </a:rPr>
              <a:t>"Now plot results
as a bar chart."</a:t>
            </a:r>
          </a:p>
        </p:txBody>
      </p:sp>
      <p:sp>
        <p:nvSpPr>
          <p:cNvPr id="25" name="Box25"/>
          <p:cNvSpPr>
            <a:spLocks noGrp="1"/>
          </p:cNvSpPr>
          <p:nvPr/>
        </p:nvSpPr>
        <p:spPr>
          <a:xfrm>
            <a:off x="480291" y="3473046"/>
            <a:ext cx="11231418" cy="2082338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 w="15875">
            <a:solidFill>
              <a:srgbClr val="1E3A50"/>
            </a:solidFill>
          </a:ln>
        </p:spPr>
        <p:txBody>
          <a:bodyPr wrap="square" lIns="182880" tIns="114300" rIns="182880" bIns="114300">
            <a:normAutofit/>
          </a:bodyPr>
          <a:lstStyle/>
          <a:p>
            <a:r>
              <a:rPr lang="en-GB" sz="1700" b="1" dirty="0">
                <a:solidFill>
                  <a:srgbClr val="00B4CC"/>
                </a:solidFill>
              </a:rPr>
              <a:t>Or as a single prompt:</a:t>
            </a:r>
          </a:p>
          <a:p>
            <a:endParaRPr lang="en-GB" sz="800" dirty="0">
              <a:solidFill>
                <a:srgbClr val="7EC8E3"/>
              </a:solidFill>
            </a:endParaRPr>
          </a:p>
          <a:p>
            <a:r>
              <a:rPr lang="en-GB" sz="1700" i="1" dirty="0">
                <a:solidFill>
                  <a:srgbClr val="7EC8E3"/>
                </a:solidFill>
              </a:rPr>
              <a:t>"Let's think step-by-step: first load the data, then normalise, then plot."</a:t>
            </a:r>
          </a:p>
          <a:p>
            <a:endParaRPr lang="en-GB" sz="800" dirty="0">
              <a:solidFill>
                <a:srgbClr val="7EC8E3"/>
              </a:solidFill>
            </a:endParaRPr>
          </a:p>
          <a:p>
            <a:r>
              <a:rPr lang="en-GB" sz="1600" dirty="0">
                <a:solidFill>
                  <a:srgbClr val="B0C4D0"/>
                </a:solidFill>
              </a:rPr>
              <a:t>✓  Check each stage for errors before moving on — easier to debug than one long prompt.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0291" y="60000"/>
            <a:ext cx="11231418" cy="7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00B4CC"/>
                </a:solidFill>
              </a:rPr>
              <a:t>3.  </a:t>
            </a:r>
            <a:r>
              <a:rPr sz="3800">
                <a:solidFill>
                  <a:srgbClr val="FFFFFF"/>
                </a:solidFill>
              </a:rPr>
              <a:t>Role / Persona Prompting</a:t>
            </a:r>
          </a:p>
        </p:txBody>
      </p:sp>
      <p:cxnSp>
        <p:nvCxnSpPr>
          <p:cNvPr id="99" name="Line"/>
          <p:cNvCxnSpPr/>
          <p:nvPr/>
        </p:nvCxnSpPr>
        <p:spPr>
          <a:xfrm>
            <a:off x="480291" y="880000"/>
            <a:ext cx="11231418" cy="0"/>
          </a:xfrm>
          <a:prstGeom prst="line">
            <a:avLst/>
          </a:prstGeom>
          <a:ln w="22860">
            <a:solidFill>
              <a:srgbClr val="00B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480291" y="1000000"/>
            <a:ext cx="11231418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FFFFFF"/>
                </a:solidFill>
              </a:rPr>
              <a:t>Assign the model a role to shape its tone, domain knowledge, and output style.</a:t>
            </a:r>
          </a:p>
        </p:txBody>
      </p:sp>
      <p:sp>
        <p:nvSpPr>
          <p:cNvPr id="20" name="Box20"/>
          <p:cNvSpPr>
            <a:spLocks noGrp="1"/>
          </p:cNvSpPr>
          <p:nvPr/>
        </p:nvSpPr>
        <p:spPr>
          <a:xfrm>
            <a:off x="480291" y="1340000"/>
            <a:ext cx="3690472" cy="180000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 w="15875">
            <a:solidFill>
              <a:srgbClr val="1E3A50"/>
            </a:solidFill>
          </a:ln>
        </p:spPr>
        <p:txBody>
          <a:bodyPr wrap="square" lIns="182880" tIns="114300" rIns="182880" bIns="114300">
            <a:normAutofit/>
          </a:bodyPr>
          <a:lstStyle/>
          <a:p>
            <a:r>
              <a:rPr lang="en-GB" sz="1900" b="1" dirty="0">
                <a:solidFill>
                  <a:srgbClr val="00B4CC"/>
                </a:solidFill>
              </a:rPr>
              <a:t>Analyst</a:t>
            </a:r>
          </a:p>
          <a:p>
            <a:endParaRPr lang="en-GB" sz="900" dirty="0">
              <a:solidFill>
                <a:srgbClr val="7EC8E3"/>
              </a:solidFill>
            </a:endParaRPr>
          </a:p>
          <a:p>
            <a:r>
              <a:rPr lang="en-GB" sz="1600" i="1" dirty="0">
                <a:solidFill>
                  <a:srgbClr val="7EC8E3"/>
                </a:solidFill>
              </a:rPr>
              <a:t>"You are a senior bioinformatics analyst. Focus on transcriptomics and statistical rigour."</a:t>
            </a:r>
          </a:p>
        </p:txBody>
      </p:sp>
      <p:sp>
        <p:nvSpPr>
          <p:cNvPr id="21" name="Box21"/>
          <p:cNvSpPr>
            <a:spLocks noGrp="1"/>
          </p:cNvSpPr>
          <p:nvPr/>
        </p:nvSpPr>
        <p:spPr>
          <a:xfrm>
            <a:off x="4250763" y="1340000"/>
            <a:ext cx="3690472" cy="180000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 w="15875">
            <a:solidFill>
              <a:srgbClr val="1E3A50"/>
            </a:solidFill>
          </a:ln>
        </p:spPr>
        <p:txBody>
          <a:bodyPr wrap="square" lIns="182880" tIns="114300" rIns="182880" bIns="114300">
            <a:normAutofit/>
          </a:bodyPr>
          <a:lstStyle/>
          <a:p>
            <a:r>
              <a:rPr lang="en-GB" sz="1900" b="1" dirty="0">
                <a:solidFill>
                  <a:srgbClr val="00B4CC"/>
                </a:solidFill>
              </a:rPr>
              <a:t>Reviewer</a:t>
            </a:r>
          </a:p>
          <a:p>
            <a:endParaRPr lang="en-GB" sz="900" dirty="0">
              <a:solidFill>
                <a:srgbClr val="7EC8E3"/>
              </a:solidFill>
            </a:endParaRPr>
          </a:p>
          <a:p>
            <a:r>
              <a:rPr lang="en-GB" sz="1600" i="1" dirty="0">
                <a:solidFill>
                  <a:srgbClr val="7EC8E3"/>
                </a:solidFill>
              </a:rPr>
              <a:t>"You are a critical code reviewer. Identify bugs, edge cases, and off-by-one errors."</a:t>
            </a:r>
          </a:p>
        </p:txBody>
      </p:sp>
      <p:sp>
        <p:nvSpPr>
          <p:cNvPr id="22" name="Box22"/>
          <p:cNvSpPr>
            <a:spLocks noGrp="1"/>
          </p:cNvSpPr>
          <p:nvPr/>
        </p:nvSpPr>
        <p:spPr>
          <a:xfrm>
            <a:off x="8021235" y="1340000"/>
            <a:ext cx="3690472" cy="180000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 w="15875">
            <a:solidFill>
              <a:srgbClr val="1E3A50"/>
            </a:solidFill>
          </a:ln>
        </p:spPr>
        <p:txBody>
          <a:bodyPr wrap="square" lIns="182880" tIns="114300" rIns="182880" bIns="114300">
            <a:normAutofit/>
          </a:bodyPr>
          <a:lstStyle/>
          <a:p>
            <a:r>
              <a:rPr lang="en-GB" sz="1900" b="1" dirty="0">
                <a:solidFill>
                  <a:srgbClr val="00B4CC"/>
                </a:solidFill>
              </a:rPr>
              <a:t>Writer</a:t>
            </a:r>
          </a:p>
          <a:p>
            <a:endParaRPr lang="en-GB" sz="900" dirty="0">
              <a:solidFill>
                <a:srgbClr val="7EC8E3"/>
              </a:solidFill>
            </a:endParaRPr>
          </a:p>
          <a:p>
            <a:r>
              <a:rPr lang="en-GB" sz="1600" i="1" dirty="0">
                <a:solidFill>
                  <a:srgbClr val="7EC8E3"/>
                </a:solidFill>
              </a:rPr>
              <a:t>"You are a science communicator writing for a non-specialist audience. Avoid jargon."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80291" y="3280000"/>
            <a:ext cx="11231418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00B4CC"/>
                </a:solidFill>
              </a:rPr>
              <a:t>Why it works: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80291" y="3560000"/>
            <a:ext cx="11231418" cy="5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B0C4D0"/>
                </a:solidFill>
              </a:rPr>
              <a:t>Roles calibrate vocabulary, assumptions, confidence level, and domain depth — without lengthy instructions.</a:t>
            </a:r>
          </a:p>
        </p:txBody>
      </p:sp>
      <p:sp>
        <p:nvSpPr>
          <p:cNvPr id="25" name="Box25"/>
          <p:cNvSpPr>
            <a:spLocks noGrp="1"/>
          </p:cNvSpPr>
          <p:nvPr/>
        </p:nvSpPr>
        <p:spPr>
          <a:xfrm>
            <a:off x="480291" y="4200000"/>
            <a:ext cx="11231418" cy="65000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 w="15875">
            <a:solidFill>
              <a:srgbClr val="1E3A50"/>
            </a:solidFill>
          </a:ln>
        </p:spPr>
        <p:txBody>
          <a:bodyPr wrap="square" lIns="182880" tIns="114300" rIns="182880" bIns="114300">
            <a:normAutofit/>
          </a:bodyPr>
          <a:lstStyle/>
          <a:p>
            <a:r>
              <a:rPr lang="en-GB" sz="1700" dirty="0">
                <a:solidFill>
                  <a:srgbClr val="B0C4D0"/>
                </a:solidFill>
              </a:rPr>
              <a:t>TIP:  Combine with specificity: role + task + output format = highly targeted responses.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0291" y="60000"/>
            <a:ext cx="11231418" cy="7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00B4CC"/>
                </a:solidFill>
              </a:rPr>
              <a:t>4.  </a:t>
            </a:r>
            <a:r>
              <a:rPr sz="3800">
                <a:solidFill>
                  <a:srgbClr val="FFFFFF"/>
                </a:solidFill>
              </a:rPr>
              <a:t>Few-Shot Prompting</a:t>
            </a:r>
          </a:p>
        </p:txBody>
      </p:sp>
      <p:cxnSp>
        <p:nvCxnSpPr>
          <p:cNvPr id="99" name="Line"/>
          <p:cNvCxnSpPr/>
          <p:nvPr/>
        </p:nvCxnSpPr>
        <p:spPr>
          <a:xfrm>
            <a:off x="480291" y="880000"/>
            <a:ext cx="11231418" cy="0"/>
          </a:xfrm>
          <a:prstGeom prst="line">
            <a:avLst/>
          </a:prstGeom>
          <a:ln w="22860">
            <a:solidFill>
              <a:srgbClr val="00B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480291" y="1000000"/>
            <a:ext cx="11231418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FFFFFF"/>
                </a:solidFill>
              </a:rPr>
              <a:t>Show 2–3 input/output examples so the model learns the pattern — no lengthy instructions needed.</a:t>
            </a:r>
          </a:p>
        </p:txBody>
      </p:sp>
      <p:sp>
        <p:nvSpPr>
          <p:cNvPr id="20" name="Box20"/>
          <p:cNvSpPr>
            <a:spLocks noGrp="1"/>
          </p:cNvSpPr>
          <p:nvPr/>
        </p:nvSpPr>
        <p:spPr>
          <a:xfrm>
            <a:off x="480291" y="1522880"/>
            <a:ext cx="5555709" cy="420000"/>
          </a:xfrm>
          <a:prstGeom prst="roundRect">
            <a:avLst>
              <a:gd name="adj" fmla="val 6000"/>
            </a:avLst>
          </a:prstGeom>
          <a:solidFill>
            <a:srgbClr val="00B4CC"/>
          </a:solidFill>
          <a:ln w="15875">
            <a:solidFill>
              <a:srgbClr val="00B4CC"/>
            </a:solidFill>
          </a:ln>
        </p:spPr>
        <p:txBody>
          <a:bodyPr wrap="square" lIns="182880" tIns="114300" rIns="182880" bIns="114300">
            <a:normAutofit fontScale="62500" lnSpcReduction="20000"/>
          </a:bodyPr>
          <a:lstStyle/>
          <a:p>
            <a:r>
              <a:rPr lang="en-GB" sz="2100" b="1" dirty="0">
                <a:solidFill>
                  <a:srgbClr val="000000"/>
                </a:solidFill>
              </a:rPr>
              <a:t>  INPUT</a:t>
            </a:r>
          </a:p>
        </p:txBody>
      </p:sp>
      <p:sp>
        <p:nvSpPr>
          <p:cNvPr id="21" name="Box21"/>
          <p:cNvSpPr>
            <a:spLocks noGrp="1"/>
          </p:cNvSpPr>
          <p:nvPr/>
        </p:nvSpPr>
        <p:spPr>
          <a:xfrm>
            <a:off x="6156000" y="1522880"/>
            <a:ext cx="5555709" cy="420000"/>
          </a:xfrm>
          <a:prstGeom prst="roundRect">
            <a:avLst>
              <a:gd name="adj" fmla="val 6000"/>
            </a:avLst>
          </a:prstGeom>
          <a:solidFill>
            <a:srgbClr val="00B4CC"/>
          </a:solidFill>
          <a:ln w="15875">
            <a:solidFill>
              <a:srgbClr val="00B4CC"/>
            </a:solidFill>
          </a:ln>
        </p:spPr>
        <p:txBody>
          <a:bodyPr wrap="square" lIns="182880" tIns="114300" rIns="182880" bIns="114300">
            <a:normAutofit fontScale="62500" lnSpcReduction="20000"/>
          </a:bodyPr>
          <a:lstStyle/>
          <a:p>
            <a:r>
              <a:rPr lang="en-GB" sz="2100" b="1" dirty="0">
                <a:solidFill>
                  <a:srgbClr val="000000"/>
                </a:solidFill>
              </a:rPr>
              <a:t>  OUTPUT</a:t>
            </a:r>
          </a:p>
        </p:txBody>
      </p:sp>
      <p:sp>
        <p:nvSpPr>
          <p:cNvPr id="30" name="Box30"/>
          <p:cNvSpPr>
            <a:spLocks noGrp="1"/>
          </p:cNvSpPr>
          <p:nvPr/>
        </p:nvSpPr>
        <p:spPr>
          <a:xfrm>
            <a:off x="480291" y="2002880"/>
            <a:ext cx="5555709" cy="72000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 w="15875">
            <a:solidFill>
              <a:srgbClr val="1E3A50"/>
            </a:solidFill>
          </a:ln>
        </p:spPr>
        <p:txBody>
          <a:bodyPr wrap="square" lIns="182880" tIns="114300" rIns="182880" bIns="114300">
            <a:normAutofit/>
          </a:bodyPr>
          <a:lstStyle/>
          <a:p>
            <a:r>
              <a:rPr lang="en-GB" sz="1700" i="1" dirty="0">
                <a:solidFill>
                  <a:srgbClr val="7EC8E3"/>
                </a:solidFill>
              </a:rPr>
              <a:t>"BRCA1"</a:t>
            </a:r>
          </a:p>
        </p:txBody>
      </p:sp>
      <p:sp>
        <p:nvSpPr>
          <p:cNvPr id="31" name="Box31"/>
          <p:cNvSpPr>
            <a:spLocks noGrp="1"/>
          </p:cNvSpPr>
          <p:nvPr/>
        </p:nvSpPr>
        <p:spPr>
          <a:xfrm>
            <a:off x="6156000" y="2002880"/>
            <a:ext cx="5555709" cy="72000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 w="15875">
            <a:solidFill>
              <a:srgbClr val="1E3A50"/>
            </a:solidFill>
          </a:ln>
        </p:spPr>
        <p:txBody>
          <a:bodyPr wrap="square" lIns="182880" tIns="114300" rIns="182880" bIns="114300">
            <a:normAutofit fontScale="92500" lnSpcReduction="10000"/>
          </a:bodyPr>
          <a:lstStyle/>
          <a:p>
            <a:r>
              <a:rPr lang="en-GB" sz="1700" i="1" dirty="0">
                <a:solidFill>
                  <a:srgbClr val="7EC8E3"/>
                </a:solidFill>
              </a:rPr>
              <a:t>"BRCA1 encodes a tumour suppressor
involved in DNA repair."</a:t>
            </a:r>
          </a:p>
        </p:txBody>
      </p:sp>
      <p:sp>
        <p:nvSpPr>
          <p:cNvPr id="32" name="Box32"/>
          <p:cNvSpPr>
            <a:spLocks noGrp="1"/>
          </p:cNvSpPr>
          <p:nvPr/>
        </p:nvSpPr>
        <p:spPr>
          <a:xfrm>
            <a:off x="480291" y="2772880"/>
            <a:ext cx="5555709" cy="72000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 w="15875">
            <a:solidFill>
              <a:srgbClr val="1E3A50"/>
            </a:solidFill>
          </a:ln>
        </p:spPr>
        <p:txBody>
          <a:bodyPr wrap="square" lIns="182880" tIns="114300" rIns="182880" bIns="114300">
            <a:normAutofit/>
          </a:bodyPr>
          <a:lstStyle/>
          <a:p>
            <a:r>
              <a:rPr lang="en-GB" sz="1700" i="1" dirty="0">
                <a:solidFill>
                  <a:srgbClr val="7EC8E3"/>
                </a:solidFill>
              </a:rPr>
              <a:t>"TP53"</a:t>
            </a:r>
          </a:p>
        </p:txBody>
      </p:sp>
      <p:sp>
        <p:nvSpPr>
          <p:cNvPr id="33" name="Box33"/>
          <p:cNvSpPr>
            <a:spLocks noGrp="1"/>
          </p:cNvSpPr>
          <p:nvPr/>
        </p:nvSpPr>
        <p:spPr>
          <a:xfrm>
            <a:off x="6156000" y="2772880"/>
            <a:ext cx="5555709" cy="72000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 w="15875">
            <a:solidFill>
              <a:srgbClr val="1E3A50"/>
            </a:solidFill>
          </a:ln>
        </p:spPr>
        <p:txBody>
          <a:bodyPr wrap="square" lIns="182880" tIns="114300" rIns="182880" bIns="114300">
            <a:normAutofit fontScale="92500" lnSpcReduction="10000"/>
          </a:bodyPr>
          <a:lstStyle/>
          <a:p>
            <a:r>
              <a:rPr lang="en-GB" sz="1700" i="1" dirty="0">
                <a:solidFill>
                  <a:srgbClr val="7EC8E3"/>
                </a:solidFill>
              </a:rPr>
              <a:t>"TP53 encodes a transcription factor
that regulates the cell cycle."</a:t>
            </a:r>
          </a:p>
        </p:txBody>
      </p:sp>
      <p:sp>
        <p:nvSpPr>
          <p:cNvPr id="34" name="Box34"/>
          <p:cNvSpPr>
            <a:spLocks noGrp="1"/>
          </p:cNvSpPr>
          <p:nvPr/>
        </p:nvSpPr>
        <p:spPr>
          <a:xfrm>
            <a:off x="480291" y="3542880"/>
            <a:ext cx="5555709" cy="72000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 w="15875">
            <a:solidFill>
              <a:srgbClr val="1E3A50"/>
            </a:solidFill>
          </a:ln>
        </p:spPr>
        <p:txBody>
          <a:bodyPr wrap="square" lIns="182880" tIns="114300" rIns="182880" bIns="114300">
            <a:normAutofit/>
          </a:bodyPr>
          <a:lstStyle/>
          <a:p>
            <a:r>
              <a:rPr lang="en-GB" sz="1700" i="1" dirty="0">
                <a:solidFill>
                  <a:srgbClr val="AAAAAA"/>
                </a:solidFill>
              </a:rPr>
              <a:t>"EGFR"</a:t>
            </a:r>
          </a:p>
        </p:txBody>
      </p:sp>
      <p:sp>
        <p:nvSpPr>
          <p:cNvPr id="35" name="Box35"/>
          <p:cNvSpPr>
            <a:spLocks noGrp="1"/>
          </p:cNvSpPr>
          <p:nvPr/>
        </p:nvSpPr>
        <p:spPr>
          <a:xfrm>
            <a:off x="6156000" y="3542880"/>
            <a:ext cx="5555709" cy="720000"/>
          </a:xfrm>
          <a:prstGeom prst="roundRect">
            <a:avLst>
              <a:gd name="adj" fmla="val 6000"/>
            </a:avLst>
          </a:prstGeom>
          <a:solidFill>
            <a:srgbClr val="1A1500"/>
          </a:solidFill>
          <a:ln w="15875">
            <a:solidFill>
              <a:srgbClr val="AA8800"/>
            </a:solidFill>
          </a:ln>
        </p:spPr>
        <p:txBody>
          <a:bodyPr wrap="square" lIns="182880" tIns="114300" rIns="182880" bIns="114300">
            <a:normAutofit/>
          </a:bodyPr>
          <a:lstStyle/>
          <a:p>
            <a:r>
              <a:rPr lang="en-GB" sz="1700" dirty="0">
                <a:solidFill>
                  <a:srgbClr val="FFD700"/>
                </a:solidFill>
              </a:rPr>
              <a:t>???  ← model completes this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0291" y="60000"/>
            <a:ext cx="11231418" cy="7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00B4CC"/>
                </a:solidFill>
              </a:rPr>
              <a:t>5.  </a:t>
            </a:r>
            <a:r>
              <a:rPr sz="3800">
                <a:solidFill>
                  <a:srgbClr val="FFFFFF"/>
                </a:solidFill>
              </a:rPr>
              <a:t>Self-Critique &amp; Reflection</a:t>
            </a:r>
          </a:p>
        </p:txBody>
      </p:sp>
      <p:cxnSp>
        <p:nvCxnSpPr>
          <p:cNvPr id="99" name="Line"/>
          <p:cNvCxnSpPr/>
          <p:nvPr/>
        </p:nvCxnSpPr>
        <p:spPr>
          <a:xfrm>
            <a:off x="480291" y="880000"/>
            <a:ext cx="11231418" cy="0"/>
          </a:xfrm>
          <a:prstGeom prst="line">
            <a:avLst/>
          </a:prstGeom>
          <a:ln w="22860">
            <a:solidFill>
              <a:srgbClr val="00B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480291" y="1000000"/>
            <a:ext cx="11231418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FFFFFF"/>
                </a:solidFill>
              </a:rPr>
              <a:t>Ask the model to evaluate and improve its own output — especially effective for complex code and analysis.</a:t>
            </a:r>
          </a:p>
        </p:txBody>
      </p:sp>
      <p:sp>
        <p:nvSpPr>
          <p:cNvPr id="20" name="Box20"/>
          <p:cNvSpPr>
            <a:spLocks noGrp="1"/>
          </p:cNvSpPr>
          <p:nvPr/>
        </p:nvSpPr>
        <p:spPr>
          <a:xfrm>
            <a:off x="480291" y="1494748"/>
            <a:ext cx="3100000" cy="1518000"/>
          </a:xfrm>
          <a:prstGeom prst="roundRect">
            <a:avLst>
              <a:gd name="adj" fmla="val 6000"/>
            </a:avLst>
          </a:prstGeom>
          <a:solidFill>
            <a:srgbClr val="0A2233"/>
          </a:solidFill>
          <a:ln w="15875">
            <a:solidFill>
              <a:srgbClr val="00B4CC"/>
            </a:solidFill>
          </a:ln>
        </p:spPr>
        <p:txBody>
          <a:bodyPr wrap="square" lIns="182880" tIns="114300" rIns="182880" bIns="114300">
            <a:normAutofit/>
          </a:bodyPr>
          <a:lstStyle/>
          <a:p>
            <a:r>
              <a:rPr lang="en-GB" sz="2100" b="1" dirty="0">
                <a:solidFill>
                  <a:srgbClr val="00B4CC"/>
                </a:solidFill>
              </a:rPr>
              <a:t>① Generate</a:t>
            </a:r>
          </a:p>
          <a:p>
            <a:endParaRPr lang="en-GB" sz="900" dirty="0">
              <a:solidFill>
                <a:srgbClr val="7EC8E3"/>
              </a:solidFill>
            </a:endParaRPr>
          </a:p>
          <a:p>
            <a:r>
              <a:rPr lang="en-GB" sz="1600" i="1" dirty="0">
                <a:solidFill>
                  <a:srgbClr val="7EC8E3"/>
                </a:solidFill>
              </a:rPr>
              <a:t>"Write a Python script
to normalise the data."</a:t>
            </a:r>
          </a:p>
        </p:txBody>
      </p:sp>
      <p:sp>
        <p:nvSpPr>
          <p:cNvPr id="80" name="Arrow"/>
          <p:cNvSpPr>
            <a:spLocks noGrp="1"/>
          </p:cNvSpPr>
          <p:nvPr/>
        </p:nvSpPr>
        <p:spPr>
          <a:xfrm>
            <a:off x="3635291" y="1904748"/>
            <a:ext cx="855709" cy="13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4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Box21"/>
          <p:cNvSpPr>
            <a:spLocks noGrp="1"/>
          </p:cNvSpPr>
          <p:nvPr/>
        </p:nvSpPr>
        <p:spPr>
          <a:xfrm>
            <a:off x="4546000" y="1494748"/>
            <a:ext cx="3100000" cy="1518000"/>
          </a:xfrm>
          <a:prstGeom prst="roundRect">
            <a:avLst>
              <a:gd name="adj" fmla="val 6000"/>
            </a:avLst>
          </a:prstGeom>
          <a:solidFill>
            <a:srgbClr val="0A2233"/>
          </a:solidFill>
          <a:ln w="15875">
            <a:solidFill>
              <a:srgbClr val="00B4CC"/>
            </a:solidFill>
          </a:ln>
        </p:spPr>
        <p:txBody>
          <a:bodyPr wrap="square" lIns="182880" tIns="114300" rIns="182880" bIns="114300">
            <a:normAutofit/>
          </a:bodyPr>
          <a:lstStyle/>
          <a:p>
            <a:r>
              <a:rPr lang="en-GB" sz="2100" b="1" dirty="0">
                <a:solidFill>
                  <a:srgbClr val="00B4CC"/>
                </a:solidFill>
              </a:rPr>
              <a:t>② Critique</a:t>
            </a:r>
          </a:p>
          <a:p>
            <a:endParaRPr lang="en-GB" sz="900" dirty="0">
              <a:solidFill>
                <a:srgbClr val="7EC8E3"/>
              </a:solidFill>
            </a:endParaRPr>
          </a:p>
          <a:p>
            <a:r>
              <a:rPr lang="en-GB" sz="1600" i="1" dirty="0">
                <a:solidFill>
                  <a:srgbClr val="7EC8E3"/>
                </a:solidFill>
              </a:rPr>
              <a:t>"Review the script.
List any bugs or assumptions."</a:t>
            </a:r>
          </a:p>
        </p:txBody>
      </p:sp>
      <p:sp>
        <p:nvSpPr>
          <p:cNvPr id="3" name="Arrow"/>
          <p:cNvSpPr>
            <a:spLocks noGrp="1"/>
          </p:cNvSpPr>
          <p:nvPr/>
        </p:nvSpPr>
        <p:spPr>
          <a:xfrm>
            <a:off x="7701000" y="1904748"/>
            <a:ext cx="855709" cy="13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4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Box22"/>
          <p:cNvSpPr>
            <a:spLocks noGrp="1"/>
          </p:cNvSpPr>
          <p:nvPr/>
        </p:nvSpPr>
        <p:spPr>
          <a:xfrm>
            <a:off x="8611709" y="1494748"/>
            <a:ext cx="3100000" cy="1518000"/>
          </a:xfrm>
          <a:prstGeom prst="roundRect">
            <a:avLst>
              <a:gd name="adj" fmla="val 6000"/>
            </a:avLst>
          </a:prstGeom>
          <a:solidFill>
            <a:srgbClr val="0A2233"/>
          </a:solidFill>
          <a:ln w="15875">
            <a:solidFill>
              <a:srgbClr val="00B4CC"/>
            </a:solidFill>
          </a:ln>
        </p:spPr>
        <p:txBody>
          <a:bodyPr wrap="square" lIns="182880" tIns="114300" rIns="182880" bIns="114300">
            <a:normAutofit/>
          </a:bodyPr>
          <a:lstStyle/>
          <a:p>
            <a:r>
              <a:rPr lang="en-GB" sz="2100" b="1" dirty="0">
                <a:solidFill>
                  <a:srgbClr val="00B4CC"/>
                </a:solidFill>
              </a:rPr>
              <a:t>③ Revise</a:t>
            </a:r>
          </a:p>
          <a:p>
            <a:endParaRPr lang="en-GB" sz="900" dirty="0">
              <a:solidFill>
                <a:srgbClr val="7EC8E3"/>
              </a:solidFill>
            </a:endParaRPr>
          </a:p>
          <a:p>
            <a:r>
              <a:rPr lang="en-GB" sz="1600" i="1" dirty="0">
                <a:solidFill>
                  <a:srgbClr val="7EC8E3"/>
                </a:solidFill>
              </a:rPr>
              <a:t>"Fix the issues
you just identified."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80291" y="3182748"/>
            <a:ext cx="11231418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 dirty="0">
                <a:solidFill>
                  <a:srgbClr val="00B4CC"/>
                </a:solidFill>
              </a:rPr>
              <a:t>Example critique prompts:</a:t>
            </a:r>
          </a:p>
        </p:txBody>
      </p:sp>
      <p:sp>
        <p:nvSpPr>
          <p:cNvPr id="25" name="Box25"/>
          <p:cNvSpPr>
            <a:spLocks noGrp="1"/>
          </p:cNvSpPr>
          <p:nvPr/>
        </p:nvSpPr>
        <p:spPr>
          <a:xfrm>
            <a:off x="480291" y="3862748"/>
            <a:ext cx="11231418" cy="150000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 w="15875">
            <a:solidFill>
              <a:srgbClr val="1E3A50"/>
            </a:solidFill>
          </a:ln>
        </p:spPr>
        <p:txBody>
          <a:bodyPr wrap="square" lIns="182880" tIns="114300" rIns="182880" bIns="114300">
            <a:normAutofit/>
          </a:bodyPr>
          <a:lstStyle/>
          <a:p>
            <a:r>
              <a:rPr lang="en-GB" sz="1700" i="1" dirty="0">
                <a:solidFill>
                  <a:srgbClr val="7EC8E3"/>
                </a:solidFill>
              </a:rPr>
              <a:t>“Review the above script and highlight any potential issues or assumptions.”</a:t>
            </a:r>
          </a:p>
          <a:p>
            <a:endParaRPr lang="en-GB" sz="800" dirty="0">
              <a:solidFill>
                <a:srgbClr val="7EC8E3"/>
              </a:solidFill>
            </a:endParaRPr>
          </a:p>
          <a:p>
            <a:r>
              <a:rPr lang="en-GB" sz="1700" i="1" dirty="0">
                <a:solidFill>
                  <a:srgbClr val="7EC8E3"/>
                </a:solidFill>
              </a:rPr>
              <a:t>“What are the weaknesses or limitations of this approach?”</a:t>
            </a:r>
          </a:p>
          <a:p>
            <a:endParaRPr lang="en-GB" sz="800" dirty="0">
              <a:solidFill>
                <a:srgbClr val="7EC8E3"/>
              </a:solidFill>
            </a:endParaRPr>
          </a:p>
          <a:p>
            <a:r>
              <a:rPr lang="en-GB" sz="1700" i="1" dirty="0">
                <a:solidFill>
                  <a:srgbClr val="7EC8E3"/>
                </a:solidFill>
              </a:rPr>
              <a:t>“Check this methods section for logical errors or missing steps.”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80291" y="5532748"/>
            <a:ext cx="11231418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B0C4D0"/>
                </a:solidFill>
              </a:rPr>
              <a:t>Can be chained any number of times: generate → critique → revise → critique → 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0291" y="60000"/>
            <a:ext cx="11231418" cy="7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00B4CC"/>
                </a:solidFill>
              </a:rPr>
              <a:t>6.  </a:t>
            </a:r>
            <a:r>
              <a:rPr sz="3800">
                <a:solidFill>
                  <a:srgbClr val="FFFFFF"/>
                </a:solidFill>
              </a:rPr>
              <a:t>Context Injection (RAG)</a:t>
            </a:r>
          </a:p>
        </p:txBody>
      </p:sp>
      <p:cxnSp>
        <p:nvCxnSpPr>
          <p:cNvPr id="99" name="Line"/>
          <p:cNvCxnSpPr/>
          <p:nvPr/>
        </p:nvCxnSpPr>
        <p:spPr>
          <a:xfrm>
            <a:off x="480291" y="880000"/>
            <a:ext cx="11231418" cy="0"/>
          </a:xfrm>
          <a:prstGeom prst="line">
            <a:avLst/>
          </a:prstGeom>
          <a:ln w="22860">
            <a:solidFill>
              <a:srgbClr val="00B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480291" y="1000000"/>
            <a:ext cx="11231418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FFFFFF"/>
                </a:solidFill>
              </a:rPr>
              <a:t>Supplement the prompt with external documents so the model draws on your context, not just pretraining.</a:t>
            </a:r>
          </a:p>
        </p:txBody>
      </p:sp>
      <p:sp>
        <p:nvSpPr>
          <p:cNvPr id="20" name="Box20"/>
          <p:cNvSpPr>
            <a:spLocks noGrp="1"/>
          </p:cNvSpPr>
          <p:nvPr/>
        </p:nvSpPr>
        <p:spPr>
          <a:xfrm>
            <a:off x="480291" y="1650000"/>
            <a:ext cx="4400000" cy="68000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 w="15875">
            <a:solidFill>
              <a:srgbClr val="1E3A50"/>
            </a:solidFill>
          </a:ln>
        </p:spPr>
        <p:txBody>
          <a:bodyPr wrap="square" lIns="182880" tIns="114300" rIns="182880" bIns="114300">
            <a:normAutofit/>
          </a:bodyPr>
          <a:lstStyle/>
          <a:p>
            <a:r>
              <a:rPr lang="en-GB" sz="1800" dirty="0">
                <a:solidFill>
                  <a:srgbClr val="7EC8E3"/>
                </a:solidFill>
              </a:rPr>
              <a:t>  Paste code or data snippet</a:t>
            </a:r>
          </a:p>
        </p:txBody>
      </p:sp>
      <p:sp>
        <p:nvSpPr>
          <p:cNvPr id="80" name="Arrow"/>
          <p:cNvSpPr>
            <a:spLocks noGrp="1"/>
          </p:cNvSpPr>
          <p:nvPr/>
        </p:nvSpPr>
        <p:spPr>
          <a:xfrm>
            <a:off x="4940291" y="1930000"/>
            <a:ext cx="380000" cy="12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4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Box21"/>
          <p:cNvSpPr>
            <a:spLocks noGrp="1"/>
          </p:cNvSpPr>
          <p:nvPr/>
        </p:nvSpPr>
        <p:spPr>
          <a:xfrm>
            <a:off x="480291" y="2370000"/>
            <a:ext cx="4400000" cy="68000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 w="15875">
            <a:solidFill>
              <a:srgbClr val="1E3A50"/>
            </a:solidFill>
          </a:ln>
        </p:spPr>
        <p:txBody>
          <a:bodyPr wrap="square" lIns="182880" tIns="114300" rIns="182880" bIns="114300">
            <a:normAutofit/>
          </a:bodyPr>
          <a:lstStyle/>
          <a:p>
            <a:r>
              <a:rPr lang="en-GB" sz="1800" dirty="0">
                <a:solidFill>
                  <a:srgbClr val="7EC8E3"/>
                </a:solidFill>
              </a:rPr>
              <a:t>  Attach PDF, CSV, or image</a:t>
            </a:r>
          </a:p>
        </p:txBody>
      </p:sp>
      <p:sp>
        <p:nvSpPr>
          <p:cNvPr id="3" name="Arrow"/>
          <p:cNvSpPr>
            <a:spLocks noGrp="1"/>
          </p:cNvSpPr>
          <p:nvPr/>
        </p:nvSpPr>
        <p:spPr>
          <a:xfrm>
            <a:off x="4940291" y="2650000"/>
            <a:ext cx="380000" cy="12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4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Box22"/>
          <p:cNvSpPr>
            <a:spLocks noGrp="1"/>
          </p:cNvSpPr>
          <p:nvPr/>
        </p:nvSpPr>
        <p:spPr>
          <a:xfrm>
            <a:off x="480291" y="3090000"/>
            <a:ext cx="4400000" cy="68000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 w="15875">
            <a:solidFill>
              <a:srgbClr val="1E3A50"/>
            </a:solidFill>
          </a:ln>
        </p:spPr>
        <p:txBody>
          <a:bodyPr wrap="square" lIns="182880" tIns="114300" rIns="182880" bIns="114300">
            <a:normAutofit/>
          </a:bodyPr>
          <a:lstStyle/>
          <a:p>
            <a:r>
              <a:rPr lang="en-GB" sz="1800" dirty="0">
                <a:solidFill>
                  <a:srgbClr val="7EC8E3"/>
                </a:solidFill>
              </a:rPr>
              <a:t>  Agent reads linked directory</a:t>
            </a:r>
          </a:p>
        </p:txBody>
      </p:sp>
      <p:sp>
        <p:nvSpPr>
          <p:cNvPr id="4" name="Arrow"/>
          <p:cNvSpPr>
            <a:spLocks noGrp="1"/>
          </p:cNvSpPr>
          <p:nvPr/>
        </p:nvSpPr>
        <p:spPr>
          <a:xfrm>
            <a:off x="4940291" y="3370000"/>
            <a:ext cx="380000" cy="12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4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Box25"/>
          <p:cNvSpPr>
            <a:spLocks noGrp="1"/>
          </p:cNvSpPr>
          <p:nvPr/>
        </p:nvSpPr>
        <p:spPr>
          <a:xfrm>
            <a:off x="5230291" y="1650000"/>
            <a:ext cx="3400000" cy="2120000"/>
          </a:xfrm>
          <a:prstGeom prst="roundRect">
            <a:avLst>
              <a:gd name="adj" fmla="val 6000"/>
            </a:avLst>
          </a:prstGeom>
          <a:solidFill>
            <a:srgbClr val="0A2233"/>
          </a:solidFill>
          <a:ln w="15875">
            <a:solidFill>
              <a:srgbClr val="00B4CC"/>
            </a:solidFill>
          </a:ln>
        </p:spPr>
        <p:txBody>
          <a:bodyPr wrap="square" lIns="182880" tIns="114300" rIns="182880" bIns="114300">
            <a:normAutofit/>
          </a:bodyPr>
          <a:lstStyle/>
          <a:p>
            <a:r>
              <a:rPr lang="en-GB" sz="3200" b="1" dirty="0">
                <a:solidFill>
                  <a:srgbClr val="00B4CC"/>
                </a:solidFill>
              </a:rPr>
              <a:t>LLM</a:t>
            </a:r>
          </a:p>
          <a:p>
            <a:endParaRPr lang="en-GB" sz="1200" dirty="0">
              <a:solidFill>
                <a:srgbClr val="7EC8E3"/>
              </a:solidFill>
            </a:endParaRPr>
          </a:p>
          <a:p>
            <a:r>
              <a:rPr lang="en-GB" sz="1700" dirty="0">
                <a:solidFill>
                  <a:srgbClr val="B0C4D0"/>
                </a:solidFill>
              </a:rPr>
              <a:t>Draws on your context,</a:t>
            </a:r>
          </a:p>
          <a:p>
            <a:r>
              <a:rPr lang="en-GB" sz="1700" dirty="0">
                <a:solidFill>
                  <a:srgbClr val="B0C4D0"/>
                </a:solidFill>
              </a:rPr>
              <a:t>not just pretraining.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80291" y="3970000"/>
            <a:ext cx="11231418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00B4CC"/>
                </a:solidFill>
              </a:rPr>
              <a:t>Particularly useful for:</a:t>
            </a:r>
          </a:p>
        </p:txBody>
      </p:sp>
      <p:sp>
        <p:nvSpPr>
          <p:cNvPr id="30" name="Box30"/>
          <p:cNvSpPr>
            <a:spLocks noGrp="1"/>
          </p:cNvSpPr>
          <p:nvPr/>
        </p:nvSpPr>
        <p:spPr>
          <a:xfrm>
            <a:off x="480291" y="4370000"/>
            <a:ext cx="11231418" cy="78000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 w="15875">
            <a:solidFill>
              <a:srgbClr val="1E3A50"/>
            </a:solidFill>
          </a:ln>
        </p:spPr>
        <p:txBody>
          <a:bodyPr wrap="square" lIns="182880" tIns="114300" rIns="182880" bIns="114300">
            <a:normAutofit/>
          </a:bodyPr>
          <a:lstStyle/>
          <a:p>
            <a:r>
              <a:rPr lang="en-GB" sz="1700" dirty="0">
                <a:solidFill>
                  <a:srgbClr val="B0C4D0"/>
                </a:solidFill>
              </a:rPr>
              <a:t>✓  Up-to-date information the model may not have in its pretraining data</a:t>
            </a:r>
          </a:p>
          <a:p>
            <a:endParaRPr lang="en-GB" sz="600" dirty="0">
              <a:solidFill>
                <a:srgbClr val="B0C4D0"/>
              </a:solidFill>
            </a:endParaRPr>
          </a:p>
          <a:p>
            <a:r>
              <a:rPr lang="en-GB" sz="1700" dirty="0">
                <a:solidFill>
                  <a:srgbClr val="B0C4D0"/>
                </a:solidFill>
              </a:rPr>
              <a:t>✓  Domain-specific or lab-specific protocols, data formats, and code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FFFFF"/>
                </a:solidFill>
              </a:rPr>
              <a:t>Vibe 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8C8C8"/>
                </a:solidFill>
              </a:rPr>
              <a:t>Prompting an LLM to iteratively generate and modify code until it 'works'.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64DCFF"/>
                </a:solidFill>
              </a:rPr>
              <a:t>Good Uses</a:t>
            </a:r>
          </a:p>
          <a:p>
            <a:r>
              <a:rPr sz="2000">
                <a:solidFill>
                  <a:srgbClr val="FFFFFF"/>
                </a:solidFill>
              </a:rPr>
              <a:t>Rapid prototyping</a:t>
            </a:r>
          </a:p>
          <a:p>
            <a:r>
              <a:rPr sz="2000">
                <a:solidFill>
                  <a:srgbClr val="FFFFFF"/>
                </a:solidFill>
              </a:rPr>
              <a:t>Boilerplate / glue code</a:t>
            </a:r>
          </a:p>
          <a:p>
            <a:r>
              <a:rPr sz="2000">
                <a:solidFill>
                  <a:srgbClr val="FFFFFF"/>
                </a:solidFill>
              </a:rPr>
              <a:t>Exploring new libraries</a:t>
            </a:r>
          </a:p>
          <a:p>
            <a:r>
              <a:rPr sz="2000">
                <a:solidFill>
                  <a:srgbClr val="FFFFFF"/>
                </a:solidFill>
              </a:rPr>
              <a:t>Quick visualisations</a:t>
            </a:r>
          </a:p>
          <a:p>
            <a:r>
              <a:rPr sz="2000">
                <a:solidFill>
                  <a:srgbClr val="FFFFFF"/>
                </a:solidFill>
              </a:rPr>
              <a:t>Drafting small scripts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10312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7878"/>
                </a:solidFill>
              </a:rPr>
              <a:t>Bad Uses</a:t>
            </a:r>
          </a:p>
          <a:p>
            <a:r>
              <a:rPr sz="2000">
                <a:solidFill>
                  <a:srgbClr val="FFFFFF"/>
                </a:solidFill>
              </a:rPr>
              <a:t>Scientific analyses you can't verify</a:t>
            </a:r>
          </a:p>
          <a:p>
            <a:r>
              <a:rPr sz="2000">
                <a:solidFill>
                  <a:srgbClr val="FFFFFF"/>
                </a:solidFill>
              </a:rPr>
              <a:t>Production pipelines</a:t>
            </a:r>
          </a:p>
          <a:p>
            <a:r>
              <a:rPr sz="2000">
                <a:solidFill>
                  <a:srgbClr val="FFFFFF"/>
                </a:solidFill>
              </a:rPr>
              <a:t>Complex statistical modelling</a:t>
            </a:r>
          </a:p>
          <a:p>
            <a:r>
              <a:rPr sz="2000">
                <a:solidFill>
                  <a:srgbClr val="FFFFFF"/>
                </a:solidFill>
              </a:rPr>
              <a:t>Code you do not understand</a:t>
            </a:r>
          </a:p>
          <a:p>
            <a:r>
              <a:rPr sz="2000">
                <a:solidFill>
                  <a:srgbClr val="FFFFFF"/>
                </a:solidFill>
              </a:rPr>
              <a:t>Reproducible research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00"/>
                </a:solidFill>
              </a:rPr>
              <a:t>Rule: Use LLMs to prototype fast → then review, test, and understand the code.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600" b="1">
                <a:solidFill>
                  <a:srgbClr val="FFFFFF"/>
                </a:solidFill>
              </a:rPr>
              <a:t>Vibe Coding vs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64DCFF"/>
                </a:solidFill>
              </a:rPr>
              <a:t>Vibe Coding</a:t>
            </a:r>
          </a:p>
          <a:p>
            <a:r>
              <a:rPr sz="2000">
                <a:solidFill>
                  <a:srgbClr val="FFFFFF"/>
                </a:solidFill>
              </a:rPr>
              <a:t>Human steers every step</a:t>
            </a:r>
          </a:p>
          <a:p>
            <a:r>
              <a:rPr sz="2000">
                <a:solidFill>
                  <a:srgbClr val="FFFFFF"/>
                </a:solidFill>
              </a:rPr>
              <a:t>Prompt → code → fix → repeat</a:t>
            </a:r>
          </a:p>
          <a:p>
            <a:r>
              <a:rPr sz="2000">
                <a:solidFill>
                  <a:srgbClr val="FFFFFF"/>
                </a:solidFill>
              </a:rPr>
              <a:t>Great for exploration &amp; rapid prototyping</a:t>
            </a:r>
          </a:p>
          <a:p>
            <a:r>
              <a:rPr sz="2000">
                <a:solidFill>
                  <a:srgbClr val="FFFFFF"/>
                </a:solidFill>
              </a:rPr>
              <a:t>Scales creativity (faster idea testing)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64592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7878"/>
                </a:solidFill>
              </a:rPr>
              <a:t>Agents</a:t>
            </a:r>
          </a:p>
          <a:p>
            <a:r>
              <a:rPr sz="2000">
                <a:solidFill>
                  <a:srgbClr val="FFFFFF"/>
                </a:solidFill>
              </a:rPr>
              <a:t>AI plans and executes multi‑step tasks</a:t>
            </a:r>
          </a:p>
          <a:p>
            <a:r>
              <a:rPr sz="2000">
                <a:solidFill>
                  <a:srgbClr val="FFFFFF"/>
                </a:solidFill>
              </a:rPr>
              <a:t>Loop: Plan → Tools → Evaluate → Iterate</a:t>
            </a:r>
          </a:p>
          <a:p>
            <a:r>
              <a:rPr sz="2000">
                <a:solidFill>
                  <a:srgbClr val="FFFFFF"/>
                </a:solidFill>
              </a:rPr>
              <a:t>Can run code, query data, call APIs</a:t>
            </a:r>
          </a:p>
          <a:p>
            <a:r>
              <a:rPr sz="2000">
                <a:solidFill>
                  <a:srgbClr val="FFFFFF"/>
                </a:solidFill>
              </a:rPr>
              <a:t>Scales execution (automates workflows)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00"/>
                </a:solidFill>
              </a:rPr>
              <a:t>Takeaway: Vibe coding accelerates exploration → Agents automate workflows.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1718</TotalTime>
  <Words>870</Words>
  <Application>Microsoft Macintosh PowerPoint</Application>
  <PresentationFormat>Widescreen</PresentationFormat>
  <Paragraphs>145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AI Tools (LLMS) for Computational Biology  Luke Brandwood Beyer Group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Luke Curtis Brandwood</dc:creator>
  <cp:lastModifiedBy>Luke Curtis Brandwood</cp:lastModifiedBy>
  <cp:revision>5</cp:revision>
  <dcterms:created xsi:type="dcterms:W3CDTF">2025-11-17T09:48:38Z</dcterms:created>
  <dcterms:modified xsi:type="dcterms:W3CDTF">2026-03-16T16:16:37Z</dcterms:modified>
</cp:coreProperties>
</file>